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endParaRPr lang="ru-R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9B92719-34FE-4B33-A981-D93066B0F515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34B409A8-0147-49FE-B5E2-58A2C45E06CC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7FE9F3DF-4E19-401A-96F1-1533FA35CBA7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C6EBF0B8-AB96-403C-848E-6E1B41D980C3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05CD81E2-ADC1-4FFC-A860-3B074D661AF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3E51FA50-32FF-4DB6-B0B2-4AA9BCB3502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840385A9-C54B-4018-A55D-3F9F3832BE43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sldImg"/>
          </p:nvPr>
        </p:nvSpPr>
        <p:spPr>
          <a:xfrm>
            <a:off x="217440" y="812880"/>
            <a:ext cx="7124760" cy="4008600"/>
          </a:xfrm>
          <a:prstGeom prst="rect">
            <a:avLst/>
          </a:prstGeom>
          <a:ln w="0">
            <a:noFill/>
          </a:ln>
        </p:spPr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672E1D18-A861-4FD4-944E-BA79F9786797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78A781B2-9706-4295-8F7B-1F99CFF4FC15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E50939B5-77BD-4360-9AD4-45BA2E917408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88AF9FF0-5705-48FF-B19B-B1A41352EC0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342411E8-8485-44EB-8D78-F530B9E97DE9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299B86F5-1FDA-4993-B7E1-D95F89D7C007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sldImg"/>
          </p:nvPr>
        </p:nvSpPr>
        <p:spPr>
          <a:xfrm>
            <a:off x="217440" y="812880"/>
            <a:ext cx="7124760" cy="4008600"/>
          </a:xfrm>
          <a:prstGeom prst="rect">
            <a:avLst/>
          </a:prstGeom>
          <a:ln w="0">
            <a:noFill/>
          </a:ln>
        </p:spPr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BC5512AC-28DE-4415-A975-293686B58231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68F64B2C-AE39-41CE-9B27-F5A9E444BAF1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2915CC5F-48A2-4FCF-94DE-F9D723FF82EA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F3BB68D3-0AD2-4099-ACF3-C14DC37D169A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FE572B6A-D643-4838-A347-9A960D928752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347B4587-8978-4515-ABB8-FF00AC39263A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217440" y="812880"/>
            <a:ext cx="7124760" cy="4008600"/>
          </a:xfrm>
          <a:prstGeom prst="rect">
            <a:avLst/>
          </a:prstGeom>
          <a:ln w="0">
            <a:noFill/>
          </a:ln>
        </p:spPr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29A3FC93-4C36-4B3D-ABBE-C8453F56BF8A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DF2B953B-2934-43C0-B511-077A4112ACF7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1ACB5719-0EF6-47AD-862A-407970D5ACB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FD8EC2D1-33B6-4828-8BDD-51FF7C08E269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B8C000F1-8ADB-4204-A0C7-67C826B475F0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D6114F43-297A-4617-AC48-57A5C78EC262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217440" y="812880"/>
            <a:ext cx="7124760" cy="4008600"/>
          </a:xfrm>
          <a:prstGeom prst="rect">
            <a:avLst/>
          </a:prstGeom>
          <a:ln w="0">
            <a:noFill/>
          </a:ln>
        </p:spPr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227F9DBB-FD89-4EE3-9296-2D00E3957E97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Номер слайда 4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0C71F89F-5BB5-4AD9-8804-5306CE42C15D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Номер слайда 5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A16CFDA9-F8ED-4266-A659-7E8132A10882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Номер слайда 7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9709B2E4-DFF4-453B-ADAD-987BD02A3326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Номер слайда 8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2F189CF7-459A-4EB9-9F6D-963C449D197A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Номер слайда 9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2C232E66-51A9-4F67-B7E2-59A0BF81304A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sldImg"/>
          </p:nvPr>
        </p:nvSpPr>
        <p:spPr>
          <a:xfrm>
            <a:off x="217440" y="812880"/>
            <a:ext cx="7124760" cy="4008600"/>
          </a:xfrm>
          <a:prstGeom prst="rect">
            <a:avLst/>
          </a:prstGeom>
          <a:ln w="0">
            <a:noFill/>
          </a:ln>
        </p:spPr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23390F4D-4F33-4B01-B9ED-BC9E7655F111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Номер слайда 10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9CF34183-F2EA-4F0A-AE7C-81CF8FD5DB96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Номер слайда 11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0804B9AA-5A42-41F4-95A8-8FB763B7AECC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Номер слайда 12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6FE8742C-036C-4694-A104-071FD1CF64FD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Номер слайда 13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EA41EF0A-30F6-4EAF-83DC-1A4F9BEC76EC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Номер слайда 14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CABD3072-8F7F-47BF-BD87-AD5013BB031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sldImg"/>
          </p:nvPr>
        </p:nvSpPr>
        <p:spPr>
          <a:xfrm>
            <a:off x="217440" y="812880"/>
            <a:ext cx="7124760" cy="4008600"/>
          </a:xfrm>
          <a:prstGeom prst="rect">
            <a:avLst/>
          </a:prstGeom>
          <a:ln w="0">
            <a:noFill/>
          </a:ln>
        </p:spPr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FBAC94E0-F3E7-4960-B05B-92051102BAC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Номер слайда 15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C63B2937-146E-4F59-879B-EC9CF1097A8D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Номер слайда 1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76A00D48-38A5-415F-B5DE-3055E1D13CE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Номер слайда 17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A26BCB0D-6E25-43AA-B8DE-B3C1BFEB33A1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Номер слайда 18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1C452A21-675F-4B42-AA4B-089EB4424846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Номер слайда 19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6373F326-8330-432C-93D0-AEC89A652D4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1"/>
          <p:cNvSpPr>
            <a:spLocks noGrp="1"/>
          </p:cNvSpPr>
          <p:nvPr>
            <p:ph type="sldImg"/>
          </p:nvPr>
        </p:nvSpPr>
        <p:spPr>
          <a:xfrm>
            <a:off x="217440" y="812880"/>
            <a:ext cx="7124760" cy="4008600"/>
          </a:xfrm>
          <a:prstGeom prst="rect">
            <a:avLst/>
          </a:prstGeom>
          <a:ln w="0">
            <a:noFill/>
          </a:ln>
        </p:spPr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91D9F1BD-D186-4DFE-92B0-A7027CC33FB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47AA8AA7-4274-43A3-9D47-EE4436CB6510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09FBCC4A-74DC-48F9-8166-15A1ABDF416E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Номер слайда 6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A587FEA5-2D1C-469D-946D-CFB45FC99D3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Номер слайда 2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B90361F9-79FA-4F3B-A86B-B1E73627CBE6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Номер слайда 3"/>
          <p:cNvSpPr txBox="1"/>
          <p:nvPr/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9A29F4EB-8346-49BB-B262-76F75CB9BB39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egoe UI"/>
              </a:rPr>
              <a:t>&lt;номер&gt;</a:t>
            </a:fld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sldImg"/>
          </p:nvPr>
        </p:nvSpPr>
        <p:spPr>
          <a:xfrm>
            <a:off x="217440" y="812880"/>
            <a:ext cx="7124760" cy="4008600"/>
          </a:xfrm>
          <a:prstGeom prst="rect">
            <a:avLst/>
          </a:prstGeom>
          <a:ln w="0">
            <a:noFill/>
          </a:ln>
        </p:spPr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ru-RU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6-Layout7-blank-Пустой-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881A154-ABF7-4778-B435-D6877C2882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9-Layout7-blank-Пустой-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DCE09D5-9E24-4434-9598-A5E367B067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l">
              <a:buNone/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Segoe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3788A7-9378-4FF8-BB7E-D148E18310DA}" type="slidenum">
              <a:rPr lang="ru-RU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Segoe U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ctr" anchorCtr="1">
            <a:noAutofit/>
          </a:bodyPr>
          <a:p>
            <a:pPr indent="0" algn="ctr">
              <a:buNone/>
            </a:pP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l">
              <a:buNone/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Segoe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AFD13BF-71E6-49A1-B235-0497BB84C56C}" type="slidenum">
              <a:rPr lang="ru-RU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Segoe U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ctr" anchorCtr="1">
            <a:noAutofit/>
          </a:bodyPr>
          <a:p>
            <a:pPr indent="0" algn="ctr">
              <a:buNone/>
            </a:pP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1260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4"/>
          <p:cNvPicPr/>
          <p:nvPr/>
        </p:nvPicPr>
        <p:blipFill>
          <a:blip r:embed="rId1"/>
          <a:stretch/>
        </p:blipFill>
        <p:spPr>
          <a:xfrm>
            <a:off x="1080" y="0"/>
            <a:ext cx="12191040" cy="812700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60640" y="900000"/>
            <a:ext cx="11619360" cy="372960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b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Предложения</a:t>
            </a:r>
            <a:br>
              <a:rPr sz="3600"/>
            </a:b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о приведении</a:t>
            </a:r>
            <a:r>
              <a:rPr lang="en-US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</a:t>
            </a: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Краснотурьинского ЦЗ</a:t>
            </a:r>
            <a:br>
              <a:rPr sz="3600"/>
            </a:b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в соответствие</a:t>
            </a:r>
            <a:r>
              <a:rPr lang="en-US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</a:t>
            </a: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с </a:t>
            </a:r>
            <a:r>
              <a:rPr lang="en-US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</a:t>
            </a: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Руководством</a:t>
            </a:r>
            <a:br>
              <a:rPr sz="3600"/>
            </a:b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по </a:t>
            </a:r>
            <a:r>
              <a:rPr lang="en-US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</a:t>
            </a: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фирменному </a:t>
            </a:r>
            <a:r>
              <a:rPr lang="en-US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</a:t>
            </a: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стилю </a:t>
            </a:r>
            <a:r>
              <a:rPr lang="en-US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</a:t>
            </a: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бренда</a:t>
            </a:r>
            <a:br>
              <a:rPr sz="3600"/>
            </a:b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«Работа России»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Box 3"/>
          <p:cNvSpPr txBox="1"/>
          <p:nvPr/>
        </p:nvSpPr>
        <p:spPr>
          <a:xfrm>
            <a:off x="7043400" y="5236920"/>
            <a:ext cx="3937680" cy="648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algn="r">
              <a:lnSpc>
                <a:spcPct val="100000"/>
              </a:lnSpc>
            </a:pPr>
            <a:r>
              <a:rPr lang="ru-RU" sz="1800" b="0" u="none" strike="noStrike">
                <a:solidFill>
                  <a:srgbClr val="2657A0"/>
                </a:solidFill>
                <a:effectLst/>
                <a:uFillTx/>
                <a:latin typeface="Montserrat SemiBold"/>
                <a:ea typeface="Microsoft YaHei"/>
              </a:rPr>
              <a:t>Докладчик:  О.Г. Иванова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lang="ru-RU" sz="1800" b="1" u="none" strike="noStrike">
                <a:solidFill>
                  <a:srgbClr val="2657A0"/>
                </a:solidFill>
                <a:effectLst/>
                <a:uFillTx/>
                <a:latin typeface="Montserrat SemiBold"/>
                <a:ea typeface="Microsoft YaHei"/>
              </a:rPr>
              <a:t>18 ноября 2025 г.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3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12"/>
          <p:cNvPicPr/>
          <p:nvPr/>
        </p:nvPicPr>
        <p:blipFill>
          <a:blip r:embed="rId1"/>
          <a:stretch/>
        </p:blipFill>
        <p:spPr>
          <a:xfrm>
            <a:off x="1080" y="0"/>
            <a:ext cx="12191040" cy="812700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22" name="PlaceHolder 1"/>
          <p:cNvSpPr>
            <a:spLocks noGrp="1"/>
          </p:cNvSpPr>
          <p:nvPr>
            <p:ph/>
          </p:nvPr>
        </p:nvSpPr>
        <p:spPr>
          <a:xfrm>
            <a:off x="8280000" y="1440000"/>
            <a:ext cx="3780000" cy="336564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FFBFFF"/>
                </a:highlight>
                <a:uFillTx/>
                <a:latin typeface="Montserrat"/>
                <a:ea typeface="Microsoft YaHei"/>
              </a:rPr>
              <a:t>1. Входная зона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BFBFFF"/>
                </a:highlight>
                <a:uFillTx/>
                <a:latin typeface="Montserrat"/>
                <a:ea typeface="Microsoft YaHei"/>
              </a:rPr>
              <a:t>2. Ресепшн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FFDFBF"/>
                </a:highlight>
                <a:uFillTx/>
                <a:latin typeface="Montserrat"/>
                <a:ea typeface="Microsoft YaHei"/>
              </a:rPr>
              <a:t>2.1. Гардероб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BFBFFF"/>
                </a:highlight>
                <a:uFillTx/>
                <a:latin typeface="Montserrat"/>
                <a:ea typeface="Microsoft YaHei"/>
              </a:rPr>
              <a:t>3. Сектор ожидания для граждан. Сектор цифровых сервисов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BFBFFF"/>
                </a:highlight>
                <a:uFillTx/>
                <a:latin typeface="Montserrat"/>
                <a:ea typeface="Microsoft YaHei"/>
              </a:rPr>
              <a:t>3.1. Детская зона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BFFFBF"/>
                </a:highlight>
                <a:uFillTx/>
                <a:latin typeface="Montserrat"/>
                <a:ea typeface="Microsoft YaHei"/>
              </a:rPr>
              <a:t>4. Зона первичного приёма граждан. Зона индивидуальной работы с гражданами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BFFFBF"/>
                </a:highlight>
                <a:uFillTx/>
                <a:latin typeface="Montserrat"/>
                <a:ea typeface="Microsoft YaHei"/>
              </a:rPr>
              <a:t>5. Руководитель отдела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FFCDDA"/>
                </a:highlight>
                <a:uFillTx/>
                <a:latin typeface="Montserrat"/>
                <a:ea typeface="Microsoft YaHei"/>
              </a:rPr>
              <a:t>6. Кабинет психолога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buNone/>
              <a:tabLst>
                <a:tab pos="0" algn="l"/>
              </a:tabLst>
            </a:pPr>
            <a:r>
              <a:rPr lang="ru-RU" sz="18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 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"/>
          <p:cNvPicPr/>
          <p:nvPr/>
        </p:nvPicPr>
        <p:blipFill>
          <a:blip r:embed="rId2"/>
          <a:stretch/>
        </p:blipFill>
        <p:spPr>
          <a:xfrm>
            <a:off x="360000" y="1260000"/>
            <a:ext cx="7920000" cy="478440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24" name="PlaceHolder 2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7797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I </a:t>
            </a:r>
            <a:r>
              <a:rPr lang="ru-RU" sz="44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этаж</a:t>
            </a:r>
            <a:br>
              <a:rPr sz="4400"/>
            </a:br>
            <a:r>
              <a:rPr lang="ru-RU" sz="2200" b="0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Зона быстрого обслуживания и первичного контакта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3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11"/>
          <p:cNvPicPr/>
          <p:nvPr/>
        </p:nvPicPr>
        <p:blipFill>
          <a:blip r:embed="rId1"/>
          <a:stretch/>
        </p:blipFill>
        <p:spPr>
          <a:xfrm>
            <a:off x="360" y="0"/>
            <a:ext cx="12191040" cy="812700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26" name="PlaceHolder 1"/>
          <p:cNvSpPr>
            <a:spLocks noGrp="1"/>
          </p:cNvSpPr>
          <p:nvPr>
            <p:ph/>
          </p:nvPr>
        </p:nvSpPr>
        <p:spPr>
          <a:xfrm>
            <a:off x="8460000" y="1407960"/>
            <a:ext cx="3731400" cy="417204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11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657A0"/>
                </a:solidFill>
                <a:effectLst/>
                <a:highlight>
                  <a:srgbClr val="C6CDFF"/>
                </a:highlight>
                <a:uFillTx/>
                <a:latin typeface="Montserrat"/>
                <a:ea typeface="Microsoft YaHei"/>
              </a:rPr>
              <a:t>7. </a:t>
            </a: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C6CDFF"/>
                </a:highlight>
                <a:uFillTx/>
                <a:latin typeface="Montserrat"/>
                <a:ea typeface="Microsoft YaHei"/>
              </a:rPr>
              <a:t>Зал групповых занятий (конференц-зал)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FFFFBF"/>
                </a:highlight>
                <a:uFillTx/>
                <a:latin typeface="Montserrat"/>
                <a:ea typeface="Microsoft YaHei"/>
              </a:rPr>
              <a:t>8. Зона индивидуальной работы с работодателями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C6FFFF"/>
                </a:highlight>
                <a:uFillTx/>
                <a:latin typeface="Montserrat"/>
                <a:ea typeface="Microsoft YaHei"/>
              </a:rPr>
              <a:t>9. Переговорная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FFCDDA"/>
                </a:highlight>
                <a:uFillTx/>
                <a:latin typeface="Montserrat"/>
                <a:ea typeface="Microsoft YaHei"/>
              </a:rPr>
              <a:t>10. Руководитель отдела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FFCDDA"/>
                </a:highlight>
                <a:uFillTx/>
                <a:latin typeface="Montserrat"/>
                <a:ea typeface="Microsoft YaHei"/>
              </a:rPr>
              <a:t>11. Электронное тестирование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5000"/>
              </a:lnSpc>
              <a:tabLst>
                <a:tab pos="0" algn="l"/>
              </a:tabLst>
            </a:pPr>
            <a:r>
              <a:rPr lang="ru-RU" sz="1800" b="1" u="none" strike="noStrike">
                <a:solidFill>
                  <a:srgbClr val="2657A0"/>
                </a:solidFill>
                <a:effectLst/>
                <a:highlight>
                  <a:srgbClr val="C6CDDA"/>
                </a:highlight>
                <a:uFillTx/>
                <a:latin typeface="Montserrat"/>
                <a:ea typeface="Microsoft YaHei"/>
              </a:rPr>
              <a:t>12. Архив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"/>
          <p:cNvPicPr/>
          <p:nvPr/>
        </p:nvPicPr>
        <p:blipFill>
          <a:blip r:embed="rId2"/>
          <a:stretch/>
        </p:blipFill>
        <p:spPr>
          <a:xfrm>
            <a:off x="720000" y="1249200"/>
            <a:ext cx="7380000" cy="477000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28" name="PlaceHolder 2"/>
          <p:cNvSpPr>
            <a:spLocks noGrp="1"/>
          </p:cNvSpPr>
          <p:nvPr>
            <p:ph type="title"/>
          </p:nvPr>
        </p:nvSpPr>
        <p:spPr>
          <a:xfrm>
            <a:off x="838440" y="365040"/>
            <a:ext cx="10514520" cy="7797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II </a:t>
            </a:r>
            <a:r>
              <a:rPr lang="ru-RU" sz="44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этаж</a:t>
            </a:r>
            <a:br>
              <a:rPr sz="4400"/>
            </a:br>
            <a:r>
              <a:rPr lang="ru-RU" sz="2200" b="0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Зона углублённого консультирования и взаимодействия</a:t>
            </a:r>
            <a:r>
              <a:rPr lang="en-US" sz="2200" b="0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 </a:t>
            </a:r>
            <a:r>
              <a:rPr lang="ru-RU" sz="2200" b="0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с работодателями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3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Рисунок 7"/>
          <p:cNvPicPr/>
          <p:nvPr/>
        </p:nvPicPr>
        <p:blipFill>
          <a:blip r:embed="rId1"/>
          <a:stretch/>
        </p:blipFill>
        <p:spPr>
          <a:xfrm>
            <a:off x="0" y="0"/>
            <a:ext cx="12191040" cy="812700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30" name="PlaceHolder 1"/>
          <p:cNvSpPr>
            <a:spLocks noGrp="1"/>
          </p:cNvSpPr>
          <p:nvPr>
            <p:ph/>
          </p:nvPr>
        </p:nvSpPr>
        <p:spPr>
          <a:xfrm>
            <a:off x="8280000" y="1440000"/>
            <a:ext cx="3749040" cy="434844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657A0"/>
                </a:solidFill>
                <a:effectLst/>
                <a:highlight>
                  <a:srgbClr val="FFFFBF"/>
                </a:highlight>
                <a:uFillTx/>
                <a:latin typeface="Montserrat"/>
                <a:ea typeface="Microsoft YaHei"/>
              </a:rPr>
              <a:t>13. </a:t>
            </a: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FFFFBF"/>
                </a:highlight>
                <a:uFillTx/>
                <a:latin typeface="Montserrat"/>
                <a:ea typeface="Microsoft YaHei"/>
              </a:rPr>
              <a:t>Кабинет руководителя территориального ЦЗН 2-го уровня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D9FED3"/>
                </a:highlight>
                <a:uFillTx/>
                <a:latin typeface="Montserrat"/>
                <a:ea typeface="Microsoft YaHei"/>
              </a:rPr>
              <a:t>14. Кабинет специалиста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CDD8FF"/>
                </a:highlight>
                <a:uFillTx/>
                <a:latin typeface="Montserrat"/>
                <a:ea typeface="Microsoft YaHei"/>
              </a:rPr>
              <a:t>15. Сервер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FFD8FF"/>
                </a:highlight>
                <a:uFillTx/>
                <a:latin typeface="Montserrat"/>
                <a:ea typeface="Microsoft YaHei"/>
              </a:rPr>
              <a:t>16. Руководитель отдела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FFBFBF"/>
                </a:highlight>
                <a:uFillTx/>
                <a:latin typeface="Montserrat"/>
                <a:ea typeface="Microsoft YaHei"/>
              </a:rPr>
              <a:t>17. Зона индивидуальной работы с гражданами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FFBFBF"/>
                </a:highlight>
                <a:uFillTx/>
                <a:latin typeface="Montserrat"/>
                <a:ea typeface="Microsoft YaHei"/>
              </a:rPr>
              <a:t>17.1. Кабинет специалиста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FFBFBF"/>
                </a:highlight>
                <a:uFillTx/>
                <a:latin typeface="Montserrat"/>
                <a:ea typeface="Microsoft YaHei"/>
              </a:rPr>
              <a:t>17.2. Кабинет специалиста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FFBFBF"/>
                </a:highlight>
                <a:uFillTx/>
                <a:latin typeface="Montserrat"/>
                <a:ea typeface="Microsoft YaHei"/>
              </a:rPr>
              <a:t>17.3. Кабинет специалиста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C6CDDA"/>
                </a:highlight>
                <a:uFillTx/>
                <a:latin typeface="Montserrat"/>
                <a:ea typeface="Microsoft YaHei"/>
              </a:rPr>
              <a:t>18. Гардероб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CBD3E7"/>
                </a:highlight>
                <a:uFillTx/>
                <a:latin typeface="Montserrat"/>
                <a:ea typeface="Microsoft YaHei"/>
              </a:rPr>
              <a:t>19. Кухня и зона отдыха для сотрудников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5000"/>
              </a:lnSpc>
              <a:tabLst>
                <a:tab pos="0" algn="l"/>
              </a:tabLst>
            </a:pPr>
            <a:r>
              <a:rPr lang="ru-RU" sz="1500" b="1" u="none" strike="noStrike">
                <a:solidFill>
                  <a:srgbClr val="2657A0"/>
                </a:solidFill>
                <a:effectLst/>
                <a:highlight>
                  <a:srgbClr val="BFBFFF"/>
                </a:highlight>
                <a:uFillTx/>
                <a:latin typeface="Montserrat"/>
                <a:ea typeface="Microsoft YaHei"/>
              </a:rPr>
              <a:t>20. Кабинет специалиста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838800" y="365040"/>
            <a:ext cx="10514520" cy="77976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III </a:t>
            </a:r>
            <a:r>
              <a:rPr lang="ru-RU" sz="44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этаж</a:t>
            </a:r>
            <a:br>
              <a:rPr sz="4400"/>
            </a:br>
            <a:r>
              <a:rPr lang="ru-RU" sz="2200" b="0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Административные и рабочие зоны для персонала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2"/>
          <a:stretch/>
        </p:blipFill>
        <p:spPr>
          <a:xfrm>
            <a:off x="360000" y="1440000"/>
            <a:ext cx="7920000" cy="4586400"/>
          </a:xfrm>
          <a:prstGeom prst="rect">
            <a:avLst/>
          </a:prstGeom>
          <a:noFill/>
          <a:ln w="12600">
            <a:noFill/>
          </a:ln>
        </p:spPr>
      </p:pic>
    </p:spTree>
  </p:cSld>
  <mc:AlternateContent>
    <mc:Choice Requires="p14">
      <p:transition spd="slow" p14:dur="3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Рисунок 6"/>
          <p:cNvPicPr/>
          <p:nvPr/>
        </p:nvPicPr>
        <p:blipFill>
          <a:blip r:embed="rId1"/>
          <a:stretch/>
        </p:blipFill>
        <p:spPr>
          <a:xfrm>
            <a:off x="1080" y="0"/>
            <a:ext cx="12191040" cy="8127000"/>
          </a:xfrm>
          <a:prstGeom prst="rect">
            <a:avLst/>
          </a:prstGeom>
          <a:noFill/>
          <a:ln w="12600">
            <a:noFill/>
          </a:ln>
        </p:spPr>
      </p:pic>
      <p:pic>
        <p:nvPicPr>
          <p:cNvPr id="34" name=""/>
          <p:cNvPicPr/>
          <p:nvPr/>
        </p:nvPicPr>
        <p:blipFill>
          <a:blip r:embed="rId2"/>
          <a:stretch/>
        </p:blipFill>
        <p:spPr>
          <a:xfrm>
            <a:off x="1080000" y="160560"/>
            <a:ext cx="9677160" cy="5846400"/>
          </a:xfrm>
          <a:prstGeom prst="rect">
            <a:avLst/>
          </a:prstGeom>
          <a:noFill/>
          <a:ln w="12600">
            <a:noFill/>
          </a:ln>
        </p:spPr>
      </p:pic>
    </p:spTree>
  </p:cSld>
  <mc:AlternateContent>
    <mc:Choice Requires="p14">
      <p:transition spd="slow" p14:dur="3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8"/>
          <p:cNvPicPr/>
          <p:nvPr/>
        </p:nvPicPr>
        <p:blipFill>
          <a:blip r:embed="rId1"/>
          <a:stretch/>
        </p:blipFill>
        <p:spPr>
          <a:xfrm>
            <a:off x="1080" y="0"/>
            <a:ext cx="12191040" cy="8127000"/>
          </a:xfrm>
          <a:prstGeom prst="rect">
            <a:avLst/>
          </a:prstGeom>
          <a:noFill/>
          <a:ln w="12600">
            <a:noFill/>
          </a:ln>
        </p:spPr>
      </p:pic>
      <p:pic>
        <p:nvPicPr>
          <p:cNvPr id="36" name=""/>
          <p:cNvPicPr/>
          <p:nvPr/>
        </p:nvPicPr>
        <p:blipFill>
          <a:blip r:embed="rId2"/>
          <a:stretch/>
        </p:blipFill>
        <p:spPr>
          <a:xfrm>
            <a:off x="1080000" y="160560"/>
            <a:ext cx="9677160" cy="5846400"/>
          </a:xfrm>
          <a:prstGeom prst="rect">
            <a:avLst/>
          </a:prstGeom>
          <a:noFill/>
          <a:ln w="12600">
            <a:noFill/>
          </a:ln>
        </p:spPr>
      </p:pic>
    </p:spTree>
  </p:cSld>
  <mc:AlternateContent>
    <mc:Choice Requires="p14">
      <p:transition spd="slow" p14:dur="3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10"/>
          <p:cNvPicPr/>
          <p:nvPr/>
        </p:nvPicPr>
        <p:blipFill>
          <a:blip r:embed="rId1"/>
          <a:stretch/>
        </p:blipFill>
        <p:spPr>
          <a:xfrm>
            <a:off x="1080" y="0"/>
            <a:ext cx="12191040" cy="8127000"/>
          </a:xfrm>
          <a:prstGeom prst="rect">
            <a:avLst/>
          </a:prstGeom>
          <a:noFill/>
          <a:ln w="12600">
            <a:noFill/>
          </a:ln>
        </p:spPr>
      </p:pic>
      <p:pic>
        <p:nvPicPr>
          <p:cNvPr id="38" name=""/>
          <p:cNvPicPr/>
          <p:nvPr/>
        </p:nvPicPr>
        <p:blipFill>
          <a:blip r:embed="rId2"/>
          <a:stretch/>
        </p:blipFill>
        <p:spPr>
          <a:xfrm>
            <a:off x="1080000" y="160560"/>
            <a:ext cx="9677160" cy="5846400"/>
          </a:xfrm>
          <a:prstGeom prst="rect">
            <a:avLst/>
          </a:prstGeom>
          <a:noFill/>
          <a:ln w="12600">
            <a:noFill/>
          </a:ln>
        </p:spPr>
      </p:pic>
    </p:spTree>
  </p:cSld>
  <mc:AlternateContent>
    <mc:Choice Requires="p14">
      <p:transition spd="slow" p14:dur="3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Рисунок 3"/>
          <p:cNvPicPr/>
          <p:nvPr/>
        </p:nvPicPr>
        <p:blipFill>
          <a:blip r:embed="rId1"/>
          <a:stretch/>
        </p:blipFill>
        <p:spPr>
          <a:xfrm>
            <a:off x="1080" y="0"/>
            <a:ext cx="12191040" cy="812700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260640" y="900000"/>
            <a:ext cx="11619360" cy="3729600"/>
          </a:xfrm>
          <a:prstGeom prst="rect">
            <a:avLst/>
          </a:prstGeom>
          <a:noFill/>
          <a:ln w="12600">
            <a:noFill/>
          </a:ln>
        </p:spPr>
        <p:txBody>
          <a:bodyPr lIns="91440" tIns="45720" rIns="9144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600" b="1" u="none" strike="noStrike">
                <a:solidFill>
                  <a:srgbClr val="2657A0"/>
                </a:solidFill>
                <a:effectLst/>
                <a:uFillTx/>
                <a:latin typeface="Montserrat"/>
                <a:ea typeface="Microsoft YaHei"/>
              </a:rPr>
              <a:t>Спасибо за внимание!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3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LibreOffice/26.2.0.3$Windows_X86_64 LibreOffice_project/620$Build-3</Application>
  <AppVersion>15.0000</AppVersion>
  <Company>SPecialiST RePack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2025-11-13T17:54:24Z</dcterms:created>
  <dc:creator/>
  <dc:description/>
  <dc:language>ru-RU</dc:language>
  <cp:lastModifiedBy/>
  <dcterms:modified xsi:type="dcterms:W3CDTF">2025-12-03T14:14:22Z</dcterms:modified>
  <cp:revision>7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r8>4</vt:r8>
  </property>
</Properties>
</file>